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Mean Absolute SHAP Value × 100 (Top Features)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frequency</c:v>
                  </c:pt>
                  <c:pt idx="1">
                    <c:v>monetary</c:v>
                  </c:pt>
                  <c:pt idx="2">
                    <c:v>avg_order_value</c:v>
                  </c:pt>
                  <c:pt idx="3">
                    <c:v>style_diversity</c:v>
                  </c:pt>
                  <c:pt idx="4">
                    <c:v>style_affinity</c:v>
                  </c:pt>
                  <c:pt idx="5">
                    <c:v>price_band</c:v>
                  </c:pt>
                  <c:pt idx="6">
                    <c:v>club_member_status</c:v>
                  </c:pt>
                  <c:pt idx="7">
                    <c:v>age_group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29</c:v>
                </c:pt>
                <c:pt idx="2">
                  <c:v>18</c:v>
                </c:pt>
                <c:pt idx="3">
                  <c:v>14</c:v>
                </c:pt>
                <c:pt idx="4">
                  <c:v>11</c:v>
                </c:pt>
                <c:pt idx="5">
                  <c:v>9</c:v>
                </c:pt>
                <c:pt idx="6">
                  <c:v>7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Seasonal Demand Index by Category (100 = baseline)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Upper Body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88</c:v>
                </c:pt>
                <c:pt idx="2">
                  <c:v>102</c:v>
                </c:pt>
                <c:pt idx="3">
                  <c:v>108</c:v>
                </c:pt>
                <c:pt idx="4">
                  <c:v>105</c:v>
                </c:pt>
                <c:pt idx="5">
                  <c:v>96</c:v>
                </c:pt>
                <c:pt idx="6">
                  <c:v>90</c:v>
                </c:pt>
                <c:pt idx="7">
                  <c:v>95</c:v>
                </c:pt>
                <c:pt idx="8">
                  <c:v>118</c:v>
                </c:pt>
                <c:pt idx="9">
                  <c:v>112</c:v>
                </c:pt>
                <c:pt idx="10">
                  <c:v>108</c:v>
                </c:pt>
                <c:pt idx="11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Body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</c:v>
                </c:pt>
                <c:pt idx="1">
                  <c:v>82</c:v>
                </c:pt>
                <c:pt idx="2">
                  <c:v>98</c:v>
                </c:pt>
                <c:pt idx="3">
                  <c:v>105</c:v>
                </c:pt>
                <c:pt idx="4">
                  <c:v>108</c:v>
                </c:pt>
                <c:pt idx="5">
                  <c:v>98</c:v>
                </c:pt>
                <c:pt idx="6">
                  <c:v>88</c:v>
                </c:pt>
                <c:pt idx="7">
                  <c:v>90</c:v>
                </c:pt>
                <c:pt idx="8">
                  <c:v>112</c:v>
                </c:pt>
                <c:pt idx="9">
                  <c:v>108</c:v>
                </c:pt>
                <c:pt idx="10">
                  <c:v>104</c:v>
                </c:pt>
                <c:pt idx="11">
                  <c:v>95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 Body</c:v>
                </c:pt>
              </c:strCache>
            </c:strRef>
          </c:tx>
          <c:spPr>
            <a:solidFill>
              <a:srgbClr val="F43F5E"/>
            </a:solidFill>
            <a:ln w="31750" cap="flat">
              <a:solidFill>
                <a:srgbClr val="F43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</c:v>
                </c:pt>
                <c:pt idx="1">
                  <c:v>88</c:v>
                </c:pt>
                <c:pt idx="2">
                  <c:v>95</c:v>
                </c:pt>
                <c:pt idx="3">
                  <c:v>100</c:v>
                </c:pt>
                <c:pt idx="4">
                  <c:v>100</c:v>
                </c:pt>
                <c:pt idx="5">
                  <c:v>92</c:v>
                </c:pt>
                <c:pt idx="6">
                  <c:v>88</c:v>
                </c:pt>
                <c:pt idx="7">
                  <c:v>92</c:v>
                </c:pt>
                <c:pt idx="8">
                  <c:v>108</c:v>
                </c:pt>
                <c:pt idx="9">
                  <c:v>115</c:v>
                </c:pt>
                <c:pt idx="10">
                  <c:v>118</c:v>
                </c:pt>
                <c:pt idx="11">
                  <c:v>120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Accessories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95</c:v>
                </c:pt>
                <c:pt idx="1">
                  <c:v>90</c:v>
                </c:pt>
                <c:pt idx="2">
                  <c:v>100</c:v>
                </c:pt>
                <c:pt idx="3">
                  <c:v>102</c:v>
                </c:pt>
                <c:pt idx="4">
                  <c:v>98</c:v>
                </c:pt>
                <c:pt idx="5">
                  <c:v>95</c:v>
                </c:pt>
                <c:pt idx="6">
                  <c:v>98</c:v>
                </c:pt>
                <c:pt idx="7">
                  <c:v>102</c:v>
                </c:pt>
                <c:pt idx="8">
                  <c:v>105</c:v>
                </c:pt>
                <c:pt idx="9">
                  <c:v>108</c:v>
                </c:pt>
                <c:pt idx="10">
                  <c:v>112</c:v>
                </c:pt>
                <c:pt idx="11">
                  <c:v>118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ADCFC"/>
                </a:solidFill>
                <a:latin typeface="Arial"/>
              </a:rPr>
              <a:t>Indexed Repurchase Rate (Control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 Group
(No Campaign)</c:v>
                  </c:pt>
                  <c:pt idx="1">
                    <c:v>Treatment Group
(Reactivation)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B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B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1B4A"/>
          </a:solidFill>
          <a:ln w="12700">
            <a:solidFill>
              <a:srgbClr val="111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Retail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56032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953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3822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April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365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Retail Intelligence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8046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1.37M Customers × 106K SKUs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1280160"/>
            <a:ext cx="4663440" cy="1005840"/>
          </a:xfrm>
          <a:prstGeom prst="rect">
            <a:avLst/>
          </a:prstGeom>
          <a:solidFill>
            <a:srgbClr val="F4F7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353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 ROC-AUC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15727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1353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MAP@12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5727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1480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2743200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87952" y="27797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2770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98848" y="29626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customers, Parquet pipeline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0" y="3273552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87952" y="33101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8848" y="33009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Style Clustering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8848" y="3493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KMeans, 12 style groups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0" y="3803904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87952" y="38404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98848" y="38313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8848" y="4023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cohorts + compound labels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0" y="4334256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87952" y="43708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98848" y="43616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98848" y="45537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classifier, AUC 0.8477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92240" y="2743200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65392" y="27797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76288" y="2770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Recommender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76288" y="29626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CF + content, MAP@12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92240" y="3273552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65392" y="33101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76288" y="33009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76288" y="34930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by category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92240" y="3803904"/>
            <a:ext cx="2240280" cy="45720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565392" y="384048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76288" y="38313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Simulation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76288" y="4023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Z-test, 95% CI, revenue lift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Clustering + NLP Style Affinity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5740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0574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High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2532888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319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8328" y="3776472"/>
            <a:ext cx="1828800" cy="475488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813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 reward — highest LTV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23160" y="960120"/>
            <a:ext cx="205740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23160" y="960120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32888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2888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32888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32888" y="2532888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32888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532888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32888" y="3319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532888" y="3776472"/>
            <a:ext cx="182880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813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— move toward Champions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960120"/>
            <a:ext cx="205740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960120"/>
            <a:ext cx="20574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27448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27448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Med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27448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7448" y="2532888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27448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27448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727448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27448" y="3319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727448" y="3776472"/>
            <a:ext cx="1828800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3813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campaign — priority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960120"/>
            <a:ext cx="205740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12280" y="960120"/>
            <a:ext cx="2057400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22008" y="1216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Hibernating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22008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High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22008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22008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Low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22008" y="2532888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22008" y="2624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922008" y="2807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~36%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922008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22008" y="3319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922008" y="3776472"/>
            <a:ext cx="1828800" cy="475488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76872" y="381304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re-engagement only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8600" y="4553712"/>
            <a:ext cx="8686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56285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·  Compound labels (e.g. "At Risk | Outerwear") combine behavioral tier with NLP style affinity — enabling targeted creative, not just list segmentation.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Classifier + SHAP Explainability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leakage-free, behaviorally grounded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3200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926080" cy="54864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96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00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17373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926080" cy="54864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86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24231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926080" cy="54864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3108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2926080" cy="548640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570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37947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+ scores excluded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0" y="91440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228600" y="4553712"/>
            <a:ext cx="868680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56285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CATCH  ·  Initial model hit AUC 0.99 — R_score was a monotonic transform of recency, the label definition. Removed recency + all RFM scores. Honest AUC: 0.8477.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Demand Forecasting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seasonality — top 4 product categories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91440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Timing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132588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32588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362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Body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3624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peak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16002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inventory &amp; email 2 weeks before Sep spike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43600" y="214884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14884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1854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0760" y="21854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423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outfits for Champions &amp; Potential Loyalists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43600" y="297180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29718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0083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30083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32461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Counter-seasonal promo during garment off-peak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43600" y="379476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43600" y="37947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3831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0760" y="3831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(pre-peak)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80760" y="40690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campaign before September demand surge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28600" y="4096512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13308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MULTIPLICATIVE?  ·  Fashion demand scales with trend. A 20% holiday spike on a growing baseline is far larger in absolute volume than on a flat one. Additive seasonality systematically underestimates peak inventory needs.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B4A"/>
          </a:solidFill>
          <a:ln w="12700">
            <a:solidFill>
              <a:srgbClr val="111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Simulation — Reactivation Campaign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× High Churn cohort  ·  Two-proportion z-test  ·  95% confidence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097280"/>
          </a:xfrm>
          <a:prstGeom prst="rect">
            <a:avLst/>
          </a:prstGeom>
          <a:solidFill>
            <a:srgbClr val="1A2E7A"/>
          </a:solidFill>
          <a:ln w="12700">
            <a:solidFill>
              <a:srgbClr val="2D4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24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90-day repurchase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1097280"/>
          </a:xfrm>
          <a:prstGeom prst="rect">
            <a:avLst/>
          </a:prstGeom>
          <a:solidFill>
            <a:srgbClr val="1A2E7A"/>
          </a:solidFill>
          <a:ln w="12700">
            <a:solidFill>
              <a:srgbClr val="2D4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24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252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lift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673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reactivation email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097280"/>
          </a:xfrm>
          <a:prstGeom prst="rect">
            <a:avLst/>
          </a:prstGeom>
          <a:solidFill>
            <a:srgbClr val="1A2E7A"/>
          </a:solidFill>
          <a:ln w="12700">
            <a:solidFill>
              <a:srgbClr val="2D4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24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2527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6733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excludes zero</a:t>
            </a:r>
            <a:endParaRPr lang="en-US" sz="8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28600" y="224028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572000" y="2240280"/>
            <a:ext cx="4343400" cy="2286000"/>
          </a:xfrm>
          <a:prstGeom prst="rect">
            <a:avLst/>
          </a:prstGeom>
          <a:solidFill>
            <a:srgbClr val="111B4A"/>
          </a:solidFill>
          <a:ln w="12700">
            <a:solidFill>
              <a:srgbClr val="2D4B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359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2788920"/>
            <a:ext cx="3977640" cy="347472"/>
          </a:xfrm>
          <a:prstGeom prst="rect">
            <a:avLst/>
          </a:prstGeom>
          <a:solidFill>
            <a:srgbClr val="1A2E7A"/>
          </a:solidFill>
          <a:ln w="6350">
            <a:solidFill>
              <a:srgbClr val="2D4B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64608" y="2834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(At Risk cohort)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406640" y="2834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data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3200400"/>
            <a:ext cx="3977640" cy="347472"/>
          </a:xfrm>
          <a:prstGeom prst="rect">
            <a:avLst/>
          </a:prstGeom>
          <a:solidFill>
            <a:srgbClr val="1A2E7A"/>
          </a:solidFill>
          <a:ln w="6350">
            <a:solidFill>
              <a:srgbClr val="2D4B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3246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repurchases (test)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6640" y="3246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611880"/>
            <a:ext cx="3977640" cy="347472"/>
          </a:xfrm>
          <a:prstGeom prst="rect">
            <a:avLst/>
          </a:prstGeom>
          <a:solidFill>
            <a:srgbClr val="1A2E7A"/>
          </a:solidFill>
          <a:ln w="6350">
            <a:solidFill>
              <a:srgbClr val="2D4B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64608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 — test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406640" y="36576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54880" y="4023360"/>
            <a:ext cx="3977640" cy="347472"/>
          </a:xfrm>
          <a:prstGeom prst="rect">
            <a:avLst/>
          </a:prstGeom>
          <a:solidFill>
            <a:srgbClr val="1A2E7A"/>
          </a:solidFill>
          <a:ln w="6350">
            <a:solidFill>
              <a:srgbClr val="2D4BA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64608" y="4069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— full At Risk segment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406640" y="4069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projection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69087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validated business case — not just a model accuracy score. This is the output NIQ's merchandising team can act 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H&amp;M Retail Intelligence — NIQ Business Deck</dc:title>
  <dc:subject>PptxGenJS Presentation</dc:subject>
  <dc:creator>PptxGenJS</dc:creator>
  <cp:lastModifiedBy>PptxGenJS</cp:lastModifiedBy>
  <cp:revision>1</cp:revision>
  <dcterms:created xsi:type="dcterms:W3CDTF">2026-05-01T21:04:00Z</dcterms:created>
  <dcterms:modified xsi:type="dcterms:W3CDTF">2026-05-01T21:04:00Z</dcterms:modified>
</cp:coreProperties>
</file>